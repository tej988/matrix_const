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 — core contractor value proposition.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 — book a demo or WhatsApp contact.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05840"/>
            <a:ext cx="2194560" cy="274320"/>
          </a:xfrm>
          <a:prstGeom prst="rect">
            <a:avLst/>
          </a:prstGeom>
          <a:solidFill>
            <a:srgbClr val="3A2800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4241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5A623"/>
                </a:solidFill>
                <a:latin typeface="Calibri"/>
              </a:rPr>
              <a:t>CONTRACTOR COMMAND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68580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EBEBEB"/>
                </a:solidFill>
                <a:latin typeface="Cambria"/>
              </a:rPr>
              <a:t>YOUR SITE.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68580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F5A623"/>
                </a:solidFill>
                <a:latin typeface="Cambria"/>
              </a:rPr>
              <a:t>YOUR MONEY.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68580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EBEBEB"/>
                </a:solidFill>
                <a:latin typeface="Cambria"/>
              </a:rPr>
              <a:t>YOUR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43400"/>
            <a:ext cx="5943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  <a:latin typeface="Calibri"/>
              </a:rPr>
              <a:t>Matrix Construction handles every rupee, every worker, every bill — from the first payment advance to the final company settlement.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1005840"/>
            <a:ext cx="3840480" cy="4754880"/>
          </a:xfrm>
          <a:prstGeom prst="rect">
            <a:avLst/>
          </a:prstGeom>
          <a:solidFill>
            <a:srgbClr val="11111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1887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5A623"/>
                </a:solidFill>
                <a:latin typeface="Calibri"/>
              </a:rPr>
              <a:t>AT A GLANCE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55448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5A623"/>
                </a:solidFill>
                <a:latin typeface="Cambria"/>
              </a:rPr>
              <a:t>500+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2402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Workers Tracked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46888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5A623"/>
                </a:solidFill>
                <a:latin typeface="Cambria"/>
              </a:rPr>
              <a:t>50L+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1546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Bills Processed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38328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5A623"/>
                </a:solidFill>
                <a:latin typeface="Cambria"/>
              </a:rPr>
              <a:t>Zero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0690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Payment Disputes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29768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5A623"/>
                </a:solidFill>
                <a:latin typeface="Cambria"/>
              </a:rPr>
              <a:t>1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9834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For Everything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303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  <a:latin typeface="Calibri"/>
              </a:rPr>
              <a:t>MATRIX CONSTRUCTION  ·  Contractor Command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THE PAPER TRAIL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EBEBEB"/>
                </a:solidFill>
                <a:latin typeface="Cambria"/>
              </a:rPr>
              <a:t>What's Costing You Money Right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6187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Calibri"/>
              </a:rPr>
              <a:t>Every contractor faces these daily — most just accept them as the cost of doing business.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3474720" cy="1554480"/>
          </a:xfrm>
          <a:prstGeom prst="rect">
            <a:avLst/>
          </a:prstGeom>
          <a:solidFill>
            <a:srgbClr val="11111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745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BEBEB"/>
                </a:solidFill>
                <a:latin typeface="Calibri"/>
              </a:rP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901952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EBEB"/>
                </a:solidFill>
                <a:latin typeface="Calibri"/>
              </a:rPr>
              <a:t>Register gets lost or tampered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Manual registers go missing or get altered. You pay for days never worked.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737360"/>
            <a:ext cx="3474720" cy="1554480"/>
          </a:xfrm>
          <a:prstGeom prst="rect">
            <a:avLst/>
          </a:prstGeom>
          <a:solidFill>
            <a:srgbClr val="11111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8745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BEBEB"/>
                </a:solidFill>
                <a:latin typeface="Calibri"/>
              </a:rPr>
              <a:t>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901952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EBEB"/>
                </a:solidFill>
                <a:latin typeface="Calibri"/>
              </a:rPr>
              <a:t>Advance payments with no trail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240280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Give ₹5,000 on Monday. By month end it's gone — no record anywhere.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1737360"/>
            <a:ext cx="3474720" cy="1554480"/>
          </a:xfrm>
          <a:prstGeom prst="rect">
            <a:avLst/>
          </a:prstGeom>
          <a:solidFill>
            <a:srgbClr val="11111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8745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BEBEB"/>
                </a:solidFill>
                <a:latin typeface="Calibri"/>
              </a:rPr>
              <a:t>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901952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EBEB"/>
                </a:solidFill>
                <a:latin typeface="Calibri"/>
              </a:rPr>
              <a:t>Company bills don't 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240280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Company says you've been paid. You disagree. Neither side has clean proof.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429000"/>
            <a:ext cx="3474720" cy="1554480"/>
          </a:xfrm>
          <a:prstGeom prst="rect">
            <a:avLst/>
          </a:prstGeom>
          <a:solidFill>
            <a:srgbClr val="11111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5661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BEBEB"/>
                </a:solidFill>
                <a:latin typeface="Calibri"/>
              </a:rPr>
              <a:t>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593592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EBEB"/>
                </a:solidFill>
                <a:latin typeface="Calibri"/>
              </a:rPr>
              <a:t>Proofs scattered on WhatsApp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931920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Screenshots buried in 12 chats. Proving anything takes an hour of scrolling.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3429000"/>
            <a:ext cx="3474720" cy="1554480"/>
          </a:xfrm>
          <a:prstGeom prst="rect">
            <a:avLst/>
          </a:prstGeom>
          <a:solidFill>
            <a:srgbClr val="11111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35661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BEBEB"/>
                </a:solidFill>
                <a:latin typeface="Calibri"/>
              </a:rPr>
              <a:t>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593592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EBEB"/>
                </a:solidFill>
                <a:latin typeface="Calibri"/>
              </a:rPr>
              <a:t>Wage calculation errors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931920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Counting half-days on a notebook. One error and you overpay or underpay.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3429000"/>
            <a:ext cx="3474720" cy="1554480"/>
          </a:xfrm>
          <a:prstGeom prst="rect">
            <a:avLst/>
          </a:prstGeom>
          <a:solidFill>
            <a:srgbClr val="11111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35661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BEBEB"/>
                </a:solidFill>
                <a:latin typeface="Calibri"/>
              </a:rP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3593592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EBEB"/>
                </a:solidFill>
                <a:latin typeface="Calibri"/>
              </a:rPr>
              <a:t>No picture of site expenses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931920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You don't know if the site is profitable until the final bill arrives months later.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303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  <a:latin typeface="Calibri"/>
              </a:rPr>
              <a:t>MATRIX CONSTRUCTION  ·  Contractor Command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C896"/>
                </a:solidFill>
                <a:latin typeface="Calibri"/>
              </a:rPr>
              <a:t>MODULE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BEBEB"/>
                </a:solidFill>
                <a:latin typeface="Cambria"/>
              </a:rPr>
              <a:t>Attendance That Sticks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Calibri"/>
              </a:rPr>
              <a:t>Mark daily attendance in seconds. Full day, half day, absent — timestamped. No paper, no disputes.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▸  Worker-wise daily log with date and shift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677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▸  Bulk mark for large gangs (30+ workers)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1518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▸  Monthly summary auto-generated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626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▸  Edit with audit trail — nothing disappears quietly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411480"/>
            <a:ext cx="5303520" cy="6080760"/>
          </a:xfrm>
          <a:prstGeom prst="rect">
            <a:avLst/>
          </a:prstGeom>
          <a:solidFill>
            <a:srgbClr val="11111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411480"/>
            <a:ext cx="5303520" cy="347472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4754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Calibri"/>
              </a:rPr>
              <a:t>WORKER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754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Calibri"/>
              </a:rPr>
              <a:t>TRADE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4754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Calibri"/>
              </a:rPr>
              <a:t>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4754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88888"/>
                </a:solidFill>
                <a:latin typeface="Calibri"/>
              </a:rPr>
              <a:t>DAYS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758952"/>
            <a:ext cx="5303520" cy="493776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8686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Ramu 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8686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Mason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8686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Full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8686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22.5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1371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Suresh 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1371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Helper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3716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Half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13716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19.0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764792"/>
            <a:ext cx="5303520" cy="493776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874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Ajay 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1874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Welder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1874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  <a:latin typeface="Calibri"/>
              </a:rPr>
              <a:t>Absent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1874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20.0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23774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Vinod 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23774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Mason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23774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Full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23774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23.0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2770632"/>
            <a:ext cx="5303520" cy="493776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2880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Mohan 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28803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Painter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28803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Full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28803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21.5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33832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Karan 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33832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Helper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33832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Full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20" y="33832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22.0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3776472"/>
            <a:ext cx="5303520" cy="493776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38862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Deepak 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38862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Welder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38862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Half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2720" y="3886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18.5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7960" y="43891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Priya 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43891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Mason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43891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Full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2720" y="43891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23.0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4782312"/>
            <a:ext cx="5303520" cy="493776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37960" y="4892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Anwar H.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0" y="48920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Painter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48920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  <a:latin typeface="Calibri"/>
              </a:rPr>
              <a:t>Absent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32720" y="48920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17.0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37960" y="5394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Sunil B.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20" y="53949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Helper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35440" y="5394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Full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32720" y="53949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22.5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303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  <a:latin typeface="Calibri"/>
              </a:rPr>
              <a:t>MATRIX CONSTRUCTION  ·  Contractor Command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MODULE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BEBEB"/>
                </a:solidFill>
                <a:latin typeface="Cambria"/>
              </a:rPr>
              <a:t>Wages &amp; Advances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Calibri"/>
              </a:rPr>
              <a:t>Per-worker rates, auto-deducted advances, half-day calculations — wage sheet built automatically.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▸  Per-worker daily rate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677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▸  Pre-payment (advance) auto-deducted from wages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1518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▸  Post-payment tracking after work closes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626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▸  Printable wage slip per worker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685800"/>
            <a:ext cx="5303520" cy="5394960"/>
          </a:xfrm>
          <a:prstGeom prst="rect">
            <a:avLst/>
          </a:prstGeom>
          <a:solidFill>
            <a:srgbClr val="11111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685800"/>
            <a:ext cx="5303520" cy="384048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758952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  <a:latin typeface="Calibri"/>
              </a:rPr>
              <a:t>Wage Sheet — Ramu K.  |  October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161288"/>
            <a:ext cx="5303520" cy="621792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3258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Days Worked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1325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EBEBEB"/>
                </a:solidFill>
                <a:latin typeface="Calibri"/>
              </a:rPr>
              <a:t>22.5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9659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Daily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1965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EBEBEB"/>
                </a:solidFill>
                <a:latin typeface="Calibri"/>
              </a:rPr>
              <a:t>₹750 / day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441448"/>
            <a:ext cx="5303520" cy="621792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6060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Gross Wages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6060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00C896"/>
                </a:solidFill>
                <a:latin typeface="Calibri"/>
              </a:rPr>
              <a:t>+ ₹16,875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2461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Advance Paid (Pre)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246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FF6B6B"/>
                </a:solidFill>
                <a:latin typeface="Calibri"/>
              </a:rPr>
              <a:t>− ₹3,000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721608"/>
            <a:ext cx="5303520" cy="621792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8862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Material Deduction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886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FF6B6B"/>
                </a:solidFill>
                <a:latin typeface="Calibri"/>
              </a:rPr>
              <a:t>− ₹500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5262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  <a:latin typeface="Calibri"/>
              </a:rPr>
              <a:t>Other Advance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4526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FF6B6B"/>
                </a:solidFill>
                <a:latin typeface="Calibri"/>
              </a:rPr>
              <a:t>− ₹1,000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5001768"/>
            <a:ext cx="5303520" cy="685800"/>
          </a:xfrm>
          <a:prstGeom prst="rect">
            <a:avLst/>
          </a:prstGeom>
          <a:solidFill>
            <a:srgbClr val="1E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5001768"/>
            <a:ext cx="5303520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5184648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BEBEB"/>
                </a:solidFill>
                <a:latin typeface="Cambria"/>
              </a:rPr>
              <a:t>NET PAYABLE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5184648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F5A623"/>
                </a:solidFill>
                <a:latin typeface="Cambria"/>
              </a:rPr>
              <a:t>₹12,375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303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  <a:latin typeface="Calibri"/>
              </a:rPr>
              <a:t>MATRIX CONSTRUCTION  ·  Contractor Command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MODULE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BEBEB"/>
                </a:solidFill>
                <a:latin typeface="Cambria"/>
              </a:rPr>
              <a:t>Company Bills &amp; Settlement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Calibri"/>
              </a:rPr>
              <a:t>Track every bill, payment received, and outstanding balance — with proof attachments.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▸  Bill raised vs bill approved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677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▸  Payment received log with dates and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1518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▸  Attach photos of signed bills and receipts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6265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BEBEB"/>
                </a:solidFill>
                <a:latin typeface="Calibri"/>
              </a:rPr>
              <a:t>▸  Running balance: what's owed to you right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594360"/>
            <a:ext cx="5303520" cy="5577840"/>
          </a:xfrm>
          <a:prstGeom prst="rect">
            <a:avLst/>
          </a:prstGeom>
          <a:solidFill>
            <a:srgbClr val="11111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594360"/>
            <a:ext cx="5303520" cy="384048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667512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  <a:latin typeface="Calibri"/>
              </a:rPr>
              <a:t>Project: Tower B  |  Bill #04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143000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BEBEB"/>
                </a:solidFill>
                <a:latin typeface="Calibri"/>
              </a:rPr>
              <a:t>Bill #04 Raised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14300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5A623"/>
                </a:solidFill>
                <a:latin typeface="Calibri"/>
              </a:rPr>
              <a:t>₹2,40,000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371600"/>
            <a:ext cx="4389120" cy="64008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1371600"/>
            <a:ext cx="438912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80136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BEBEB"/>
                </a:solidFill>
                <a:latin typeface="Calibri"/>
              </a:rPr>
              <a:t>Bill Approved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1801368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4D9FFF"/>
                </a:solidFill>
                <a:latin typeface="Calibri"/>
              </a:rPr>
              <a:t>₹2,20,000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029968"/>
            <a:ext cx="4389120" cy="64008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2029968"/>
            <a:ext cx="4037990" cy="64008"/>
          </a:xfrm>
          <a:prstGeom prst="rect">
            <a:avLst/>
          </a:prstGeom>
          <a:solidFill>
            <a:srgbClr val="4D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45973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BEBEB"/>
                </a:solidFill>
                <a:latin typeface="Calibri"/>
              </a:rPr>
              <a:t>Payment Received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459736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00C896"/>
                </a:solidFill>
                <a:latin typeface="Calibri"/>
              </a:rPr>
              <a:t>₹1,60,000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688336"/>
            <a:ext cx="4389120" cy="64008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2688336"/>
            <a:ext cx="2940710" cy="6400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2697480"/>
            <a:ext cx="5303520" cy="1270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8346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BEBEB"/>
                </a:solidFill>
                <a:latin typeface="Cambria"/>
              </a:rPr>
              <a:t>OUTSTANDING BALANCE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834640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 i="0">
                <a:solidFill>
                  <a:srgbClr val="FF6B6B"/>
                </a:solidFill>
                <a:latin typeface="Cambria"/>
              </a:rPr>
              <a:t>₹60,000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33756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Recent Payments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657600"/>
            <a:ext cx="4846320" cy="576072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7307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15 Oct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373075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BEBEB"/>
                </a:solidFill>
                <a:latin typeface="Calibri"/>
              </a:rPr>
              <a:t>RTGS Transfer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37307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0C896"/>
                </a:solidFill>
                <a:latin typeface="Calibri"/>
              </a:rPr>
              <a:t>+ ₹80,000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3977640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00C896"/>
                </a:solidFill>
                <a:latin typeface="Calibri"/>
              </a:rPr>
              <a:t>📎 Proof attached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4325112"/>
            <a:ext cx="4846320" cy="576072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4398264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02 Oct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439826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BEBEB"/>
                </a:solidFill>
                <a:latin typeface="Calibri"/>
              </a:rPr>
              <a:t>Cheque #4421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4398264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0C896"/>
                </a:solidFill>
                <a:latin typeface="Calibri"/>
              </a:rPr>
              <a:t>+ ₹50,000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4645152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00C896"/>
                </a:solidFill>
                <a:latin typeface="Calibri"/>
              </a:rPr>
              <a:t>📎 Proof attached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4992624"/>
            <a:ext cx="4846320" cy="576072"/>
          </a:xfrm>
          <a:prstGeom prst="rect">
            <a:avLst/>
          </a:prstGeom>
          <a:solidFill>
            <a:srgbClr val="14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20840" y="506577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20 Sep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506577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EBEBEB"/>
                </a:solidFill>
                <a:latin typeface="Calibri"/>
              </a:rPr>
              <a:t>NEFT Transfer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21240" y="506577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0C896"/>
                </a:solidFill>
                <a:latin typeface="Calibri"/>
              </a:rPr>
              <a:t>+ ₹30,000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531266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00C896"/>
                </a:solidFill>
                <a:latin typeface="Calibri"/>
              </a:rPr>
              <a:t>📎 Proof attached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303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  <a:latin typeface="Calibri"/>
              </a:rPr>
              <a:t>MATRIX CONSTRUCTION  ·  Contractor Command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SIMPLE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EBEBEB"/>
                </a:solidFill>
                <a:latin typeface="Cambria"/>
              </a:rPr>
              <a:t>How a Day Looks with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Calibri"/>
              </a:rPr>
              <a:t>From site morning to end-of-month settlement — every step in one place.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2249424"/>
            <a:ext cx="9875520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920240"/>
            <a:ext cx="658368" cy="65836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8424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60608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BEBEB"/>
                </a:solidFill>
                <a:latin typeface="Cambria"/>
              </a:rPr>
              <a:t>Mark
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10128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Tap each worker's
status at site start.
2 min for 30 workers.</a:t>
            </a:r>
          </a:p>
        </p:txBody>
      </p:sp>
      <p:sp>
        <p:nvSpPr>
          <p:cNvPr id="12" name="Oval 11"/>
          <p:cNvSpPr/>
          <p:nvPr/>
        </p:nvSpPr>
        <p:spPr>
          <a:xfrm>
            <a:off x="3063240" y="1920240"/>
            <a:ext cx="658368" cy="65836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82112" y="198424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60608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6974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BEBEB"/>
                </a:solidFill>
                <a:latin typeface="Cambria"/>
              </a:rPr>
              <a:t>Log
Advances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310128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Worker asks for early
pay? Log it instantly.
Auto-deducts from wages.</a:t>
            </a:r>
          </a:p>
        </p:txBody>
      </p:sp>
      <p:sp>
        <p:nvSpPr>
          <p:cNvPr id="16" name="Oval 15"/>
          <p:cNvSpPr/>
          <p:nvPr/>
        </p:nvSpPr>
        <p:spPr>
          <a:xfrm>
            <a:off x="5349240" y="1920240"/>
            <a:ext cx="658368" cy="65836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68112" y="198424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60608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6974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BEBEB"/>
                </a:solidFill>
                <a:latin typeface="Cambria"/>
              </a:rPr>
              <a:t>Record
Expenses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310128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Material, tools,
transport — every cost
with a photo proof.</a:t>
            </a:r>
          </a:p>
        </p:txBody>
      </p:sp>
      <p:sp>
        <p:nvSpPr>
          <p:cNvPr id="20" name="Oval 19"/>
          <p:cNvSpPr/>
          <p:nvPr/>
        </p:nvSpPr>
        <p:spPr>
          <a:xfrm>
            <a:off x="7635240" y="1920240"/>
            <a:ext cx="658368" cy="65836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54112" y="198424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60608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6974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BEBEB"/>
                </a:solidFill>
                <a:latin typeface="Cambria"/>
              </a:rPr>
              <a:t>Raise
Company Bill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310128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Matrix shows your
exact total. One tap
to generate the bill.</a:t>
            </a:r>
          </a:p>
        </p:txBody>
      </p:sp>
      <p:sp>
        <p:nvSpPr>
          <p:cNvPr id="24" name="Oval 23"/>
          <p:cNvSpPr/>
          <p:nvPr/>
        </p:nvSpPr>
        <p:spPr>
          <a:xfrm>
            <a:off x="9921240" y="1920240"/>
            <a:ext cx="658368" cy="65836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0112" y="1984248"/>
            <a:ext cx="420624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60608"/>
                </a:solidFill>
                <a:latin typeface="Cambria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26974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BEBEB"/>
                </a:solidFill>
                <a:latin typeface="Cambria"/>
              </a:rPr>
              <a:t>Log Payment
Received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3310128"/>
            <a:ext cx="2011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Mark it received,
attach screenshot.
Balance updates live.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074920"/>
            <a:ext cx="10908792" cy="1188720"/>
          </a:xfrm>
          <a:prstGeom prst="rect">
            <a:avLst/>
          </a:prstGeom>
          <a:solidFill>
            <a:srgbClr val="1A1200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230368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BEBEB"/>
                </a:solidFill>
                <a:latin typeface="Calibri"/>
              </a:rPr>
              <a:t>💡  End of month: Matrix generates your complete wage sheet, expense summary, and pending bill — all in one report.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303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  <a:latin typeface="Calibri"/>
              </a:rPr>
              <a:t>MATRIX CONSTRUCTION  ·  Contractor Command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C896"/>
                </a:solidFill>
                <a:latin typeface="Calibri"/>
              </a:rPr>
              <a:t>FULL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EBEBEB"/>
                </a:solidFill>
                <a:latin typeface="Cambria"/>
              </a:rPr>
              <a:t>Every Module You Need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7043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  <a:latin typeface="Calibri"/>
              </a:rPr>
              <a:t>Nothing missing. Nothing you don't need.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651760" cy="1691640"/>
          </a:xfrm>
          <a:prstGeom prst="rect">
            <a:avLst/>
          </a:prstGeom>
          <a:solidFill>
            <a:srgbClr val="11111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373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BEBEB"/>
                </a:solidFill>
                <a:latin typeface="Calibri"/>
              </a:rPr>
              <a:t>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7647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EBEB"/>
                </a:solidFill>
                <a:latin typeface="Calibri"/>
              </a:rPr>
              <a:t>Labour Attendance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130552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Daily full/half/absent marking.
Monthly totals auto-calculated.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84448" y="1600200"/>
            <a:ext cx="2651760" cy="1691640"/>
          </a:xfrm>
          <a:prstGeom prst="rect">
            <a:avLst/>
          </a:prstGeom>
          <a:solidFill>
            <a:srgbClr val="11111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17373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BEBEB"/>
                </a:solidFill>
                <a:latin typeface="Calibri"/>
              </a:rPr>
              <a:t>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42816" y="17647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EBEB"/>
                </a:solidFill>
                <a:latin typeface="Calibri"/>
              </a:rPr>
              <a:t>Wage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130552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Per-worker rates, deductions,
and printable wage slips.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28816" y="1600200"/>
            <a:ext cx="2651760" cy="1691640"/>
          </a:xfrm>
          <a:prstGeom prst="rect">
            <a:avLst/>
          </a:prstGeom>
          <a:solidFill>
            <a:srgbClr val="11111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3408" y="17373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BEBEB"/>
                </a:solidFill>
                <a:latin typeface="Calibri"/>
              </a:rPr>
              <a:t>⬆️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87184" y="17647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EBEB"/>
                </a:solidFill>
                <a:latin typeface="Calibri"/>
              </a:rPr>
              <a:t>Pre Payments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8" y="2130552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Advance payments logged &amp;
auto-adjusted against wages.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73184" y="1600200"/>
            <a:ext cx="2651760" cy="1691640"/>
          </a:xfrm>
          <a:prstGeom prst="rect">
            <a:avLst/>
          </a:prstGeom>
          <a:solidFill>
            <a:srgbClr val="11111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37776" y="17373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BEBEB"/>
                </a:solidFill>
                <a:latin typeface="Calibri"/>
              </a:rPr>
              <a:t>⬇️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31552" y="176479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EBEB"/>
                </a:solidFill>
                <a:latin typeface="Calibri"/>
              </a:rPr>
              <a:t>Post Payments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37776" y="2130552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Final settlements tracked
with full payment history.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584448"/>
            <a:ext cx="2651760" cy="1691640"/>
          </a:xfrm>
          <a:prstGeom prst="rect">
            <a:avLst/>
          </a:prstGeom>
          <a:solidFill>
            <a:srgbClr val="11111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7216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BEBEB"/>
                </a:solidFill>
                <a:latin typeface="Calibri"/>
              </a:rPr>
              <a:t>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374904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EBEB"/>
                </a:solidFill>
                <a:latin typeface="Calibri"/>
              </a:rPr>
              <a:t>Company Bills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411480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Raise bills, track approvals,
log payments received.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84448" y="3584448"/>
            <a:ext cx="2651760" cy="1691640"/>
          </a:xfrm>
          <a:prstGeom prst="rect">
            <a:avLst/>
          </a:prstGeom>
          <a:solidFill>
            <a:srgbClr val="11111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9040" y="37216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BEBEB"/>
                </a:solidFill>
                <a:latin typeface="Calibri"/>
              </a:rPr>
              <a:t>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42816" y="374904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EBEB"/>
                </a:solidFill>
                <a:latin typeface="Calibri"/>
              </a:rPr>
              <a:t>Payment Proofs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40" y="411480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Attach receipt photos &amp;
screenshots to every transaction.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28816" y="3584448"/>
            <a:ext cx="2651760" cy="1691640"/>
          </a:xfrm>
          <a:prstGeom prst="rect">
            <a:avLst/>
          </a:prstGeom>
          <a:solidFill>
            <a:srgbClr val="11111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93408" y="37216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BEBEB"/>
                </a:solidFill>
                <a:latin typeface="Calibri"/>
              </a:rP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87184" y="374904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EBEB"/>
                </a:solidFill>
                <a:latin typeface="Calibri"/>
              </a:rPr>
              <a:t>Site Expenses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3408" y="411480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Track material, tool &amp; transport
costs vs project budget.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3184" y="3584448"/>
            <a:ext cx="2651760" cy="1691640"/>
          </a:xfrm>
          <a:prstGeom prst="rect">
            <a:avLst/>
          </a:prstGeom>
          <a:solidFill>
            <a:srgbClr val="111118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37776" y="37216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BEBEB"/>
                </a:solidFill>
                <a:latin typeface="Calibri"/>
              </a:rPr>
              <a:t>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31552" y="374904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EBEB"/>
                </a:solidFill>
                <a:latin typeface="Calibri"/>
              </a:rPr>
              <a:t>Project Ledger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411480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Full income vs expense view.
Know your site margin anytime.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303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  <a:latin typeface="Calibri"/>
              </a:rPr>
              <a:t>MATRIX CONSTRUCTION  ·  Contractor Command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731520"/>
            <a:ext cx="5943600" cy="5303520"/>
          </a:xfrm>
          <a:prstGeom prst="ellipse">
            <a:avLst/>
          </a:prstGeom>
          <a:solidFill>
            <a:srgbClr val="180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READY TO START?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68680"/>
            <a:ext cx="73152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800" b="1" i="0">
                <a:solidFill>
                  <a:srgbClr val="EBEBEB"/>
                </a:solidFill>
                <a:latin typeface="Cambria"/>
              </a:rPr>
              <a:t>Stop Losing Money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731520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800" b="1" i="0">
                <a:solidFill>
                  <a:srgbClr val="F5A623"/>
                </a:solidFill>
                <a:latin typeface="Cambria"/>
              </a:rPr>
              <a:t>to Paperwork.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  <a:latin typeface="Calibri"/>
              </a:rPr>
              <a:t>Matrix Construction is built for contractors who run real sites and need answers — not spreadsheets.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83280"/>
            <a:ext cx="219456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447288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60608"/>
                </a:solidFill>
                <a:latin typeface="Calibri"/>
              </a:rPr>
              <a:t>Book a Demo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3383280"/>
            <a:ext cx="2194560" cy="502920"/>
          </a:xfrm>
          <a:prstGeom prst="rect">
            <a:avLst/>
          </a:prstGeom>
          <a:solidFill>
            <a:srgbClr val="111118"/>
          </a:solidFill>
          <a:ln w="12700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3447288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EBEBEB"/>
                </a:solidFill>
                <a:latin typeface="Calibri"/>
              </a:rPr>
              <a:t>Call Us Now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114800"/>
            <a:ext cx="10908792" cy="12700"/>
          </a:xfrm>
          <a:prstGeom prst="rect">
            <a:avLst/>
          </a:prstGeom>
          <a:solidFill>
            <a:srgbClr val="2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7939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Calibri"/>
              </a:rPr>
              <a:t>hello@matrixconstruction.in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7720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27939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Calibri"/>
              </a:rPr>
              <a:t>+91 99999 99999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617720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WHATSAPP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427939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Calibri"/>
              </a:rPr>
              <a:t>matrixconstruction.in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4617720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WEBSITE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389120"/>
            <a:ext cx="3840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3800" b="1" i="0">
                <a:solidFill>
                  <a:srgbClr val="1A1A2A"/>
                </a:solidFill>
                <a:latin typeface="Cambria"/>
              </a:rPr>
              <a:t>MATRIX
CONSTRUCTION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303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  <a:latin typeface="Calibri"/>
              </a:rPr>
              <a:t>MATRIX CONSTRUCTION  ·  Contractor Command Platform  ·  ©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